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YUVA YODHA ENERGY TECH HACKATHON 2026 • CHALLENGE: SMART BUILDINGS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16975" y="502920"/>
            <a:ext cx="2743200" cy="3840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PROTOTYPE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868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Segoe UI"/>
              </a:defRPr>
            </a:pPr>
            <a:r>
              <a:t>ECOSENSE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28655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Intelligent Building Energy Optimizer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38328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AI-Powered Energy Efficiency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560320"/>
            <a:ext cx="338328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Comfort-Aware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560320"/>
            <a:ext cx="338328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Peak-Demand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10728655" cy="1691640"/>
          </a:xfrm>
          <a:prstGeom prst="roundRect">
            <a:avLst/>
          </a:prstGeom>
          <a:solidFill>
            <a:srgbClr val="0C13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3456432"/>
            <a:ext cx="2194560" cy="12801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BUILDING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Commercial Spaces &amp;</a:t>
            </a:r>
            <a:br/>
            <a:r>
              <a:t>Active Thermal Zones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3840480"/>
            <a:ext cx="3200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456432"/>
            <a:ext cx="2194560" cy="12801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SENSORS / DATA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Occupancy, Temperature,</a:t>
            </a:r>
            <a:br/>
            <a:r>
              <a:t>IAQ &amp; Power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3840480"/>
            <a:ext cx="3200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456432"/>
            <a:ext cx="2194560" cy="12801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AI ENGINE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Random Forest 24h Ahead</a:t>
            </a:r>
            <a:br/>
            <a:r>
              <a:t>Demand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3840480"/>
            <a:ext cx="3200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3456432"/>
            <a:ext cx="2194560" cy="12801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OPTIMIZED CONTROL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Peak Shaving, Comfort Guard</a:t>
            </a:r>
            <a:br/>
            <a:r>
              <a:t>&amp; Dynamic Setbacks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66360"/>
            <a:ext cx="5943600" cy="1051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TEAM NOVA  •  Yuva Yodha Energy Tech Hackathon 2026</a:t>
            </a:r>
          </a:p>
          <a:p>
            <a:pPr>
              <a:defRPr sz="1100">
                <a:solidFill>
                  <a:srgbClr val="06B6D4"/>
                </a:solidFill>
                <a:latin typeface="Segoe UI"/>
              </a:defRPr>
            </a:pPr>
            <a:r>
              <a:t>Team Lead: Dharshine V  |  vdharshine19@gmail.com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166360"/>
            <a:ext cx="4602175" cy="1051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CURRENT STATUS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Functional software simulation and energy decision-support 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THE COMMERCIAL BUILDING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095" y="502920"/>
            <a:ext cx="2926080" cy="3840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6583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50" b="1">
                <a:solidFill>
                  <a:srgbClr val="F8FAFC"/>
                </a:solidFill>
                <a:latin typeface="Segoe UI"/>
              </a:defRPr>
            </a:pPr>
            <a:r>
              <a:t>BUILDINGS OFTEN RUN ON FIXED SCHEDULES — BUT BUILDING CONDITIONS KEEP CHANGING.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728655" cy="822960"/>
          </a:xfrm>
          <a:prstGeom prst="roundRect">
            <a:avLst/>
          </a:prstGeom>
          <a:solidFill>
            <a:srgbClr val="0C13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21408"/>
            <a:ext cx="2148840" cy="5943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B82F6"/>
                </a:solidFill>
                <a:latin typeface="Segoe UI"/>
              </a:defRPr>
            </a:pPr>
            <a:r>
              <a:t>FIXED SCHEDULE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2194560"/>
            <a:ext cx="320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121408"/>
            <a:ext cx="2148840" cy="5943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VACANT / PARTIAL SPACES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2" y="2194560"/>
            <a:ext cx="320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21408"/>
            <a:ext cx="2148840" cy="5943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  <a:latin typeface="Segoe UI"/>
              </a:defRPr>
            </a:pPr>
            <a:r>
              <a:t>UNNECESSARY HVAC + LIGHTING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194560"/>
            <a:ext cx="320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121408"/>
            <a:ext cx="2148840" cy="5943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F4444"/>
                </a:solidFill>
                <a:latin typeface="Segoe UI"/>
              </a:defRPr>
            </a:pPr>
            <a:r>
              <a:t>ENERGY WASTE + PEAK SPIKES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71800"/>
            <a:ext cx="3410712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28600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01  |  ENERGY WASTE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Unnecessary HVAC &amp; lighting operation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 HVAC and lighting run full blast regardless of real headcount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 Meeting rooms and empty zones conditioned on rigid timers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 Avoidable baseload drives significant continuous energy loss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971800"/>
            <a:ext cx="3410712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28600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02  |  PEAK DEMAND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Simultaneous loads create demand spikes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 Midday outdoor heat combined with occupancy spikes grid draw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 Commercial utilities levy steep Maximum Demand charges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 Unmanaged coincidence creates expensive electrical spikes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971800"/>
            <a:ext cx="3410712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28600"/>
          <a:lstStyle/>
          <a:p>
            <a:pPr algn="ctr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03  |  COMFORT MISMATCH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Static settings fail to adapt to occupancy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 Thermostats hold a flat setpoint regardless of zone density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 Leads to simultaneous overcooling in empty rooms &amp; stuffiness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 Occupant dissatisfaction leads to manual setpoint tampering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69280"/>
            <a:ext cx="10728655" cy="594360"/>
          </a:xfrm>
          <a:prstGeom prst="roundRect">
            <a:avLst/>
          </a:prstGeom>
          <a:solidFill>
            <a:srgbClr val="0C13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50" b="1" i="1">
                <a:solidFill>
                  <a:srgbClr val="10B981"/>
                </a:solidFill>
                <a:latin typeface="Segoe UI"/>
              </a:defRPr>
            </a:pPr>
            <a:r>
              <a:t>"Building managers need smarter, data-driven operating decisions."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INTELLIGENT ENERGY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095" y="502920"/>
            <a:ext cx="2926080" cy="3840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SOLUTION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700" b="1">
                <a:solidFill>
                  <a:srgbClr val="F8FAFC"/>
                </a:solidFill>
                <a:latin typeface="Segoe UI"/>
              </a:defRPr>
            </a:pPr>
            <a:r>
              <a:t>ECOSENSE AI TURNS BUILDING DATA INTO ACTIONABLE ENERGY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2039112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STEP 1</a:t>
            </a: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SENSE</a:t>
            </a:r>
          </a:p>
          <a:p>
            <a:pPr>
              <a:defRPr sz="950" b="1">
                <a:solidFill>
                  <a:srgbClr val="3B82F6"/>
                </a:solidFill>
                <a:latin typeface="Segoe UI"/>
              </a:defRPr>
            </a:pPr>
            <a:r>
              <a:t>Occupancy + environmental + energy data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Zone occupancy (headcount)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Indoor temp (°C) &amp; humidity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HVAC, lighting, &amp; plug power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2194560"/>
            <a:ext cx="2039112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STEP 2</a:t>
            </a: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PREDICT</a:t>
            </a:r>
          </a:p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24-hour demand forecast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Random Forest regression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Diurnal pattern modeling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Empirical prediction bands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5776" y="2194560"/>
            <a:ext cx="2039112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STEP 3</a:t>
            </a: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OPTIMIZE</a:t>
            </a:r>
          </a:p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Energy + comfort + peak demand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Simultaneous 3-way balance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Strict 22°C–26°C comfort target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Peak limit clipping (≤175 kW)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2904" y="2194560"/>
            <a:ext cx="2039112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STEP 4</a:t>
            </a: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RECOMMEND</a:t>
            </a:r>
          </a:p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Actionable operating suggestions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Dynamic occupancy setbacks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Daylight harvesting dimming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Thermal pre-cooling triggers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00032" y="2194560"/>
            <a:ext cx="2039112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>
              <a:defRPr sz="1000" b="1">
                <a:solidFill>
                  <a:srgbClr val="A855F7"/>
                </a:solidFill>
                <a:latin typeface="Segoe UI"/>
              </a:defRPr>
            </a:pPr>
            <a:r>
              <a:t>STEP 5</a:t>
            </a: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MEASURE</a:t>
            </a:r>
          </a:p>
          <a:p>
            <a:pPr>
              <a:defRPr sz="950" b="1">
                <a:solidFill>
                  <a:srgbClr val="A855F7"/>
                </a:solidFill>
                <a:latin typeface="Segoe UI"/>
              </a:defRPr>
            </a:pPr>
            <a:r>
              <a:t>Baseline vs optimized performance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Transparent savings analytics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Real-time kWh &amp; ₹ tracking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Continuous comfort logging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69280"/>
            <a:ext cx="10728655" cy="594360"/>
          </a:xfrm>
          <a:prstGeom prst="roundRect">
            <a:avLst/>
          </a:prstGeom>
          <a:solidFill>
            <a:srgbClr val="0C13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CURRENT PROTOTYPE: Software simulation + decision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SYSTEM ARCHITECTURE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HOW ECOSENSE AI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095" y="502920"/>
            <a:ext cx="2926080" cy="3840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4-LAYER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From raw telemetry → prediction → optimized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47088"/>
            <a:ext cx="10728655" cy="93268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/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LAYER 1: BUILDING DATA</a:t>
            </a:r>
          </a:p>
          <a:p>
            <a:pPr algn="l">
              <a:defRPr sz="1150" b="1">
                <a:solidFill>
                  <a:srgbClr val="F8FAFC"/>
                </a:solidFill>
                <a:latin typeface="Segoe UI"/>
              </a:defRPr>
            </a:pPr>
            <a:r>
              <a:t>Occupancy • Temperature • Humidity • IAQ • HVAC • Lighting • Plug Loads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Collects multi-zone telemetry across 5 building zones (~2,300 m²) with real-time signal 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743200"/>
            <a:ext cx="457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10B981"/>
                </a:solidFill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728655" cy="93268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/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LAYER 2: AI FORECAST</a:t>
            </a:r>
          </a:p>
          <a:p>
            <a:pPr algn="l">
              <a:defRPr sz="1150" b="1">
                <a:solidFill>
                  <a:srgbClr val="F8FAFC"/>
                </a:solidFill>
                <a:latin typeface="Segoe UI"/>
              </a:defRPr>
            </a:pPr>
            <a:r>
              <a:t>Random Forest Regressor • 24-Hour Energy Demand Prediction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Predicts whole-building power draw (kW) with R² ≈ 0.942 and empirical prediction bands (±1.645 × MAE).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3822192"/>
            <a:ext cx="457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10B981"/>
                </a:solidFill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05072"/>
            <a:ext cx="10728655" cy="93268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/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LAYER 3: OPTIMIZATION ENGINE</a:t>
            </a:r>
          </a:p>
          <a:p>
            <a:pPr algn="l">
              <a:defRPr sz="1150" b="1">
                <a:solidFill>
                  <a:srgbClr val="F8FAFC"/>
                </a:solidFill>
                <a:latin typeface="Segoe UI"/>
              </a:defRPr>
            </a:pPr>
            <a:r>
              <a:t>Energy + Comfort + Peak Demand Multi-Objective Balance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Calculates setpoint offsets, shifts loads before peak hours, and enforces 22°C–26°C comfort boundaries.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4901184"/>
            <a:ext cx="457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10B981"/>
                </a:solidFill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84064"/>
            <a:ext cx="10728655" cy="93268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/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LAYER 4: DECISION COCKPIT</a:t>
            </a:r>
          </a:p>
          <a:p>
            <a:pPr algn="l">
              <a:defRPr sz="1150" b="1">
                <a:solidFill>
                  <a:srgbClr val="F8FAFC"/>
                </a:solidFill>
                <a:latin typeface="Segoe UI"/>
              </a:defRPr>
            </a:pPr>
            <a:r>
              <a:t>Interactive Dashboard • Zone Analytics • Scenario Lab • Recommendations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Delivers explainable operating recommendations to facility managers with quantified kWh and ₹ impact.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WORKING SOFTWARE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WHAT WE ACTUALLY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095" y="502920"/>
            <a:ext cx="2926080" cy="3840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LIVE DEMO 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10728655" cy="4389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A fully functional software simulation prototype &amp; analytics decision support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6675120" cy="3977639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dashboard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47088"/>
            <a:ext cx="6492240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755648"/>
            <a:ext cx="3870655" cy="89611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DASHBOARD</a:t>
            </a: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Monitor simulated building performance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Live 24h demand timeseries, current zone telemetry, and active optimization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743200"/>
            <a:ext cx="3870655" cy="89611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ZONE ANALYTICS</a:t>
            </a: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Inspect 5 building zones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Granular occupancy, dry-bulb temp, relative humidity, and power breakdown per zone.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730752"/>
            <a:ext cx="3870655" cy="89611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SCENARIO LAB</a:t>
            </a: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Compare optimization strategies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Test Comfort-First, Aggressive Energy, and Peak-Shaving operational trade-offs.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718304"/>
            <a:ext cx="3870655" cy="89611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SIMULATION</a:t>
            </a: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Baseline vs EcoSense evaluation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Side-by-side verification of fixed schedule vs intelligent optimized control.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33872"/>
            <a:ext cx="10728655" cy="475488"/>
          </a:xfrm>
          <a:prstGeom prst="roundRect">
            <a:avLst/>
          </a:prstGeom>
          <a:solidFill>
            <a:srgbClr val="0C13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Technology Stack: Next.js (React)  •  FastAPI  •  Python  •  scikit-learn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PREDICTIVE MODELING &amp; MULTI-OBJECTIVE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AI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095" y="502920"/>
            <a:ext cx="2926080" cy="3840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RANDOM FOREST REGRESSOR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621792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SIMULATED DATA ➔ FEATURE ENGINEERING ➔ RANDOM FOREST ➔ 24-HR FORECAST ➔ OPTIMIZATION</a:t>
            </a:r>
          </a:p>
        </p:txBody>
      </p:sp>
      <p:pic>
        <p:nvPicPr>
          <p:cNvPr id="7" name="Picture 6" descr="slide5_ml_foreca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29968"/>
            <a:ext cx="6217920" cy="37490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234440"/>
            <a:ext cx="4327855" cy="2468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MODEL ACCURACY METRICS</a:t>
            </a: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R² ≈ 0.942  (94.2% Variance Explained)</a:t>
            </a:r>
          </a:p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MAE ≈ 3.85 kW  (Mean Absolute Error)</a:t>
            </a:r>
          </a:p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RMSE ≈ 5.21 kW  (Root Mean Squared Error)</a:t>
            </a:r>
          </a:p>
          <a:p>
            <a:pPr>
              <a:defRPr sz="900" i="1">
                <a:solidFill>
                  <a:srgbClr val="94A3B8"/>
                </a:solidFill>
                <a:latin typeface="Segoe UI"/>
              </a:defRPr>
            </a:pPr>
            <a:r>
              <a:t>Chronological 80/20 train-test split on 30-day simulated telemetry.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840480"/>
            <a:ext cx="4327855" cy="193852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OPTIMIZATION TARGETS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Energy: Minimize active power consumption across all zones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Comfort: Maintain 22°C – 26°C occupied indoor temperature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Peak Demand: Keep whole-building draw ≤ 175 kW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7044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  <a:latin typeface="Segoe UI"/>
              </a:defRPr>
            </a:pPr>
            <a:r>
              <a:t>Approximate empirical prediction band defined as forecast ± 1.645 × MAE.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SIMULATION RESULTS &amp; 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WHAT DID THE PROTOTYPE SHOW?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095" y="502920"/>
            <a:ext cx="2926080" cy="3840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SIMULATION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10712" cy="16916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/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27.8%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SIMULATED ENERGY REDUCTION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Baseline: 56,961.7 kWh  ➔  EcoSense: 41,145.4 kWh</a:t>
            </a:r>
            <a:br/>
            <a:r>
              <a:t>Saved: 15,816.3 kWh across 30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410712" cy="16916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/>
          <a:lstStyle/>
          <a:p>
            <a:pPr algn="ctr">
              <a:defRPr sz="3600" b="1">
                <a:solidFill>
                  <a:srgbClr val="06B6D4"/>
                </a:solidFill>
                <a:latin typeface="Segoe UI"/>
              </a:defRPr>
            </a:pPr>
            <a:r>
              <a:t>23.2%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SIMULATED PEAK SHAVED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Baseline: 195.4 kW  ➔  EcoSense: 150.1 kW</a:t>
            </a:r>
            <a:br/>
            <a:r>
              <a:t>Shaved: 45.3 kW (Kept ≤ 175 kW threshold)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34440"/>
            <a:ext cx="3410712" cy="16916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/>
          <a:lstStyle/>
          <a:p>
            <a:pPr algn="ctr">
              <a:defRPr sz="3600" b="1">
                <a:solidFill>
                  <a:srgbClr val="F59E0B"/>
                </a:solidFill>
                <a:latin typeface="Segoe UI"/>
              </a:defRPr>
            </a:pPr>
            <a:r>
              <a:t>₹134,433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SIMULATED 30-DAY COST DIFFERENCE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Baseline: ₹484,170  ➔  EcoSense: ₹349,738</a:t>
            </a:r>
            <a:br/>
            <a:r>
              <a:t>Calculated at commercial tariff ₹8.50/kWh</a:t>
            </a:r>
          </a:p>
        </p:txBody>
      </p:sp>
      <p:pic>
        <p:nvPicPr>
          <p:cNvPr id="9" name="Picture 8" descr="slide7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63240"/>
            <a:ext cx="10728655" cy="2514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715000"/>
            <a:ext cx="10728655" cy="566928"/>
          </a:xfrm>
          <a:prstGeom prst="roundRect">
            <a:avLst/>
          </a:prstGeom>
          <a:solidFill>
            <a:srgbClr val="0C13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SIMULATION RESULT — NOT MEASURED REAL-WORLD BUILDING DATA  |  Compared with defined fixed-schedule baseline across 5 simulated zones (~2,300 m²)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COMPETITIVE DIFFERENTIATION &amp; CORE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ECOSENSE AI?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095" y="502920"/>
            <a:ext cx="2926080" cy="3840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WHY WE WIN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30368" cy="20574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82880"/>
          <a:lstStyle/>
          <a:p>
            <a:pPr algn="ctr">
              <a:defRPr sz="1250" b="1">
                <a:solidFill>
                  <a:srgbClr val="10B981"/>
                </a:solidFill>
                <a:latin typeface="Segoe UI"/>
              </a:defRPr>
            </a:pPr>
            <a:r>
              <a:t>01  |  ENERGY + COMFORT + PEAK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Optimizes all three instead of energy alone.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 Traditional systems often cut energy by sacrificing occupant comfort.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 EcoSense AI strictly guards the 22°C–26°C comfort boundary.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 Simultaneously manages peak demand charges (≤ 175 kW threshold).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9807" y="1280160"/>
            <a:ext cx="5230368" cy="20574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82880"/>
          <a:lstStyle/>
          <a:p>
            <a:pPr algn="ctr">
              <a:defRPr sz="1250" b="1">
                <a:solidFill>
                  <a:srgbClr val="06B6D4"/>
                </a:solidFill>
                <a:latin typeface="Segoe UI"/>
              </a:defRPr>
            </a:pPr>
            <a:r>
              <a:t>02  |  PREDICTIVE DEMAND FORECASTING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Forecasts demand before peak periods arrive.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 Proactively anticipates afternoon thermal and occupancy surges.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 Enables smart pre-cooling during low-tariff, low-demand morning hours.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 Prevents reactive throttling when peak demand penalties kick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5230368" cy="20574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82880"/>
          <a:lstStyle/>
          <a:p>
            <a:pPr algn="ctr">
              <a:defRPr sz="1250" b="1">
                <a:solidFill>
                  <a:srgbClr val="3B82F6"/>
                </a:solidFill>
                <a:latin typeface="Segoe UI"/>
              </a:defRPr>
            </a:pPr>
            <a:r>
              <a:t>03  |  ZONE-AWARE INTELLIGENCE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Different zones receive different recommendations.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 Evaluates conference rooms, cafeteria, and open offices individually.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 Applies dynamic setbacks only to vacant or partially occupied zones.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 Eliminates clumsy whole-building blanket setpoint adjustments.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9807" y="3474720"/>
            <a:ext cx="5230368" cy="20574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82880"/>
          <a:lstStyle/>
          <a:p>
            <a:pPr algn="ctr">
              <a:defRPr sz="1250" b="1">
                <a:solidFill>
                  <a:srgbClr val="F59E0B"/>
                </a:solidFill>
                <a:latin typeface="Segoe UI"/>
              </a:defRPr>
            </a:pPr>
            <a:r>
              <a:t>04  |  ACTIONABLE &amp; EXPLAINABLE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Turns predictions into clear operating recommendations.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 Delivers quantified kWh and cost savings for every proposed action.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 Provides transparent rationale for facility manager verification.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 Keeps humans in the loop for safe, accountable supervisory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728655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"Not just a dashboard. A decision-support layer for smarter buildings."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IMPLEMENTATION ROADMAP &amp; VALUE REALIZATION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FROM PROTOTYPE TO REAL BUILDINGS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095" y="502920"/>
            <a:ext cx="2926080" cy="3840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4-PHASE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542032" cy="28346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NOW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SOFTWARE PROTOTYPE</a:t>
            </a:r>
          </a:p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t>Simulation + ML + optimization + dashboard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30-day multi-zone simulation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Random Forest demand forecasting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Multi-objective optimization cockpit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34440"/>
            <a:ext cx="2542032" cy="28346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>
              <a:defRPr sz="1050" b="1">
                <a:solidFill>
                  <a:srgbClr val="06B6D4"/>
                </a:solidFill>
                <a:latin typeface="Segoe UI"/>
              </a:defRPr>
            </a:pPr>
            <a:r>
              <a:t>NEXT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SENSOR PILOT</a:t>
            </a:r>
          </a:p>
          <a:p>
            <a:pPr>
              <a:defRPr sz="900" b="1">
                <a:solidFill>
                  <a:srgbClr val="06B6D4"/>
                </a:solidFill>
                <a:latin typeface="Segoe UI"/>
              </a:defRPr>
            </a:pPr>
            <a:r>
              <a:t>Occupancy + temperature + IAQ + energy meters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IoT sensor deployment in 1 zone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Validate ground-truth thermal inertia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Refine empirical prediction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234440"/>
            <a:ext cx="2542032" cy="28346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>
              <a:defRPr sz="1050" b="1">
                <a:solidFill>
                  <a:srgbClr val="3B82F6"/>
                </a:solidFill>
                <a:latin typeface="Segoe UI"/>
              </a:defRPr>
            </a:pPr>
            <a:r>
              <a:t>THEN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BMS INTEGRATION</a:t>
            </a:r>
          </a:p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HVAC + lighting supervisory control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BACnet / Modbus protocol bridge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Automated setpoint recommendations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Supervised closed-loop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234440"/>
            <a:ext cx="2542032" cy="28346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SCALE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MULTI-BUILDING FLEET</a:t>
            </a:r>
          </a:p>
          <a:p>
            <a:pPr>
              <a:defRPr sz="900" b="1">
                <a:solidFill>
                  <a:srgbClr val="F59E0B"/>
                </a:solidFill>
                <a:latin typeface="Segoe UI"/>
              </a:defRPr>
            </a:pPr>
            <a:r>
              <a:t>Continuous learning + portfolio management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Cross-building knowledge transfer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Enterprise portfolio dashboard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Grid interactive demand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10728655" cy="1783080"/>
          </a:xfrm>
          <a:prstGeom prst="roundRect">
            <a:avLst/>
          </a:prstGeom>
          <a:solidFill>
            <a:srgbClr val="0C13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164592"/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EXPECTED OPERATIONAL VALUE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• ENERGY: Reduce unnecessary consumption during low/zero occupancy hours.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• PEAK DEMAND: Reduce avoidable afternoon demand spikes to curb maximum demand charges.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• COMFORT: Strictly maintain 22°C–26°C target across all occupied spaces.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• OPERATIONS: Equip facility managers with actionable, explainable operational guidance.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  <a:latin typeface="Segoe UI"/>
              </a:defRPr>
            </a:pPr>
            <a:r>
              <a:t>Roadmap represents planned progression. Future phases require physical hardware pilots and BMS integration.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YUVA YODHA ENERGY TECH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BUILDING SMARTER, NOT JUST USING LESS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095" y="502920"/>
            <a:ext cx="2926080" cy="3840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CONCLUSION &amp;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365760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62895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ECOSENSE AI</a:t>
            </a:r>
          </a:p>
          <a:p>
            <a:pPr algn="ctr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Intelligent Building Energy Optimizer</a:t>
            </a:r>
          </a:p>
          <a:p>
            <a:pPr algn="ctr">
              <a:defRPr sz="1550" i="1" b="1">
                <a:solidFill>
                  <a:srgbClr val="F8FAFC"/>
                </a:solidFill>
                <a:latin typeface="Segoe UI"/>
              </a:defRPr>
            </a:pPr>
            <a:r>
              <a:t>"Turning building data into smarter energy decisions."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611880"/>
            <a:ext cx="2926080" cy="1051560"/>
          </a:xfrm>
          <a:prstGeom prst="roundRect">
            <a:avLst/>
          </a:prstGeom>
          <a:solidFill>
            <a:srgbClr val="111827"/>
          </a:solidFill>
          <a:ln w="177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27.8%</a:t>
            </a:r>
          </a:p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Simulated Energy Reduction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611880"/>
            <a:ext cx="2926080" cy="1051560"/>
          </a:xfrm>
          <a:prstGeom prst="roundRect">
            <a:avLst/>
          </a:prstGeom>
          <a:solidFill>
            <a:srgbClr val="111827"/>
          </a:solidFill>
          <a:ln w="1778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23.2%</a:t>
            </a:r>
          </a:p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Simulated Peak Shaved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611880"/>
            <a:ext cx="2926080" cy="1051560"/>
          </a:xfrm>
          <a:prstGeom prst="roundRect">
            <a:avLst/>
          </a:prstGeom>
          <a:solidFill>
            <a:srgbClr val="111827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22°C–26°C</a:t>
            </a:r>
          </a:p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Strict Comfort Target Guard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594360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TEAM NOVA  •  Yuva Yodha Energy Tech Hackathon 2026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Team Lead: Dharshine V  |  vdharshine19@gmail.com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Challenge: Smart Buildings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5074920"/>
            <a:ext cx="4602175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CURRENT STATUS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Functional software simulation and decision-support prototype.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Evaluated on 5 commercial zones with 30-day deterministic telemetry.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EcoSense AI • Intelligent Building Energy Optimizer  |  Yuva Yodha Energy Tech Hackathon 2026 (Smart Buildings)             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