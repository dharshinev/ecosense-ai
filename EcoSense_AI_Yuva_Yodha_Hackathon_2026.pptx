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5720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0F1D"/>
                </a:solidFill>
                <a:latin typeface="Segoe UI"/>
              </a:defRPr>
            </a:pPr>
            <a:r>
              <a:t>YUVA YODHA ENERGY TECH HACKATHON 2026  •  SMART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"/>
              </a:defRPr>
            </a:pPr>
            <a:r>
              <a:t>EcoSense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Intelligent Building Energy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AI-Powered Energy Efficiency  •  Comfort Management  •  Peak Demand Shaving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630936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585216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PROTOTYPE SPECIFICATION &amp; STATUS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Fully functional software simulation prototype &amp; analytics decision support platform</a:t>
            </a:r>
            <a:br/>
            <a:r>
              <a:t>• Evaluated on 5 commercial building zones (~2,300 m²) with 30-day simulated telemetry</a:t>
            </a:r>
            <a:br/>
            <a:r>
              <a:t>• Machine learning demand forecasting with multi-objective comfort and peak shaving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630936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58521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[Add team member names]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4053535" cy="1417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611880" cy="10515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27.8% SIMULATED REDUCTION</a:t>
            </a:r>
          </a:p>
          <a:p>
            <a:pPr>
              <a:spcAft>
                <a:spcPts val="4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ENERGY EFFICIENCY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Simulated electrical energy reduction vs. defined fixed-schedule baseline across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71800"/>
            <a:ext cx="4053535" cy="1417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154680"/>
            <a:ext cx="3611880" cy="10515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23.2% PEAK DEMAND SHAVED</a:t>
            </a:r>
          </a:p>
          <a:p>
            <a:pPr>
              <a:spcAft>
                <a:spcPts val="4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PEAK DEMAND CLIPPING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Predictive pre-cooling and load modulation to curb high-tariff commercial peak spikes.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572000"/>
            <a:ext cx="4053535" cy="1417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754880"/>
            <a:ext cx="3611880" cy="10515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COMFORT-AWARE CONTROL</a:t>
            </a:r>
          </a:p>
          <a:p>
            <a:pPr>
              <a:spcAft>
                <a:spcPts val="4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THERMAL ENVIRONMENT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Strict temperature proxy bounds (22°C–26°C) enforced across all occupied zone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THE COMMERCIAL BUILDING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Problem: Buildings Waste Energy When Demand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1150" b="1">
                <a:solidFill>
                  <a:srgbClr val="06B6D4"/>
                </a:solidFill>
                <a:latin typeface="Segoe UI"/>
              </a:defRPr>
            </a:pPr>
            <a:r>
              <a:t>Fixed Schedule   →   Over-Conditioning / Unnecessary Lighting   →   Energy Waste  +  Peak Demand  +  Comfort Trade-offs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29000" cy="3520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971800" cy="31181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1. ENERGY WASTE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THE VACANCY PARADOX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Rigid Timers: HVAC and lighting run full power on fixed schedules (07:00–19:00) regardless of actual zone occupancy.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Vacant Space: Hybrid work leaves conference rooms and entire wings empty 30–50% of the day while consuming full cooling power.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Avoidable Base Load: Overcooling unoccupied spaces drives massive, continuous utility energy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057400"/>
            <a:ext cx="3429000" cy="3520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258568"/>
            <a:ext cx="2971800" cy="31181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PEAK DEMAND SPIKES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GRID &amp; TARIFF STRAIN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Afternoon Surge: Ambient heat gain and simultaneous building occupancy trigger severe peak demand spikes (kW) in early afternoon.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Demand Penalties: Commercial utilities impose steep Maximum Demand Charges based on monthly peak kW spikes.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Grid Inefficiency: Coincident peak demand forces utilities to dispatch expensive, carbon-intensive peaker plants.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057400"/>
            <a:ext cx="3429000" cy="3520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2258568"/>
            <a:ext cx="2971800" cy="31181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3. COMFORT TRADE-OFFS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THERMAL DISCONTENT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Static Setpoints: Thermostats hold a flat setpoint (22°C) without adapting to localized solar gain or fluctuating occupant density.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Simultaneous Extremes: Causes simultaneous overcooling in empty zones (coats in summer) and stuffiness in crowded spaces.</a:t>
            </a:r>
          </a:p>
          <a:p>
            <a:pPr>
              <a:spcAft>
                <a:spcPts val="6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Manual Tampering: Frustrated occupants manually adjust setpoints, exacerbating energy waste and system strain.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42432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15584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THE NEED: Building managers need an automated software layer to turn occupancy, environmental, and energy telemetry into actionable, comfort-safe operating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CLOSED-LOOP INTELLIGENT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Our Solution: EcoSense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SOFTWARE SIMULATION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07592"/>
            <a:ext cx="10362895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"An intelligent software layer for smarter building energy decisions."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039112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94560"/>
            <a:ext cx="1746504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SENSE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TELEMETRY INGESTION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Zone-level occupancy (headcount)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Dry-bulb temperature (°C)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Relative humidity &amp; IAQ (CO₂)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HVAC, lighting, &amp; plug loads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Simulated multi-zone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011680"/>
            <a:ext cx="2039112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194560"/>
            <a:ext cx="1746504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PREDICT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MACHINE LEARNING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Random Forest Regressor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24-Hour lookahead horizon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Diurnal pattern modeling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Empirical prediction bands (±1.645 × MAE)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Early peak surge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011680"/>
            <a:ext cx="2039112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1746504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OPTIMIZE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MULTI-OBJECTIVE SOLVER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Simultaneous 3-way balance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Minimize total electrical kWh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Enforce comfort proxy (22°C–26°C)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Clip peak demand spikes (&lt;175 kW)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Predictive thermal pre-cooling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2011680"/>
            <a:ext cx="2039112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2194560"/>
            <a:ext cx="1746504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RECOMMEND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ACTIONABLE ADVISORIES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Dynamic occupancy setbacks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Daylight harvesting dimming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Pre-cooling control triggers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Quantified kWh &amp; ₹ savings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Human-in-the-loop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011680"/>
            <a:ext cx="2039112" cy="35661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2194560"/>
            <a:ext cx="1746504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5. MEASURE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TRANSPARENT METRICS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Baseline vs. optimized engine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Real-time cost avoidance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Grid CO₂ abatement tracking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Auditable data provenance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Comfort compliance proxy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728655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33872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PROTOTYPE NOTICE: The current EcoSense AI prototype operates on high-resolution simulated multi-zone commercial building telemetry to prove algorithmic optimization feasibility prior to physical hardware retrofits.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From Building Data to Energy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4884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INPUT TELEMETRY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SIMULATED BUILDING SIGNALS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Occupancy (headcount per zone)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Dry-bulb Temperature (°C)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Relative Humidity (%)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Indoor Air Quality (CO₂ ppm)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HVAC electrical power (kW)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Lighting load (kW)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Plug &amp; equipment load (kW)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Historical demand timeseries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280160"/>
            <a:ext cx="251460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463040"/>
            <a:ext cx="214884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AI / ML LAYER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PREDICTIVE ENGINE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Time-series feature pipeline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Lag-1h &amp; Lag-24h power signals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Diurnal calendar features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Random Forest Regressor (N=100)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24-Hour forward forecast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Test R² ≈ 0.942, MAE ≈ 3.85 kW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Approx. Empirical Prediction Band (±1.645 × MAE)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Anticipates peak surge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80160"/>
            <a:ext cx="251460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63040"/>
            <a:ext cx="214884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OPTIMIZATION ENGINE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CONSTRAINT OPTIMIZATION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Multi-objective solver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Dynamic occupancy setbacks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Daylight harvesting dimming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Predictive thermal pre-cooling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Peak clipping threshold (&lt;175 kW)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Comfort boundary enforcement (22.0°C–26.0°C)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Generates prioritized advisories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Explainable savings breakdown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280160"/>
            <a:ext cx="251460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463040"/>
            <a:ext cx="214884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DECISION COCKPIT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HUMAN-IN-THE-LOOP COCKPIT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Real-time Facility Dashboard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Multi-Zone Spatial Heatmap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Interactive Scenario Lab (A/B/C/D)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Baseline vs. Optimized Engine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One-click Accept / Dismiss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Illustrative Deployment ROI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Transparent Limitations View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• FastAPI REST backend + Next.js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42432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15584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DATA PIPELINE: Telemetry Ingestion → Feature Pipeline → Random Forest Forecast → Multi-Objective Optimizer → Decision Cockpit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ALGORITHMS &amp; 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Technical Approach: Data, ML &amp;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1371600"/>
          </a:xfrm>
          <a:prstGeom prst="roundRect">
            <a:avLst/>
          </a:prstGeom>
          <a:solidFill>
            <a:srgbClr val="111827"/>
          </a:solidFill>
          <a:ln w="1397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62456"/>
            <a:ext cx="4754880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DATA &amp; SIMULATION FOUNDATION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30 days continuous hourly simulated building data (720 records, PRNG seed=42)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5 distinct commercial zones (~2,300 m²): Lobby, Office Floor, Meeting Room, Conference Room, Cafeteria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Deterministic thermodynamics modeling diurnal ambient temp, solar heat, &amp; occupant heat 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120640" cy="1463040"/>
          </a:xfrm>
          <a:prstGeom prst="roundRect">
            <a:avLst/>
          </a:prstGeom>
          <a:solidFill>
            <a:srgbClr val="111827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25496"/>
            <a:ext cx="4754880" cy="12070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  <a:latin typeface="Segoe UI"/>
              </a:defRPr>
            </a:pPr>
            <a:r>
              <a:t>2. MACHINE LEARNING FORECASTING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Algorithm: RandomForestRegressor (100 estimators, max depth 12)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Anti-Leakage: Strict 80/20 chronological train-test split (no future lookahead)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Prototype Metrics (Test set): R² ≈ 0.942 | MAE ≈ 3.85 kW | RMSE ≈ 5.21 kW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Uncertainty Spread: Approximate Empirical Prediction Band (±1.645 × MAE)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5120640" cy="1371600"/>
          </a:xfrm>
          <a:prstGeom prst="roundRect">
            <a:avLst/>
          </a:prstGeom>
          <a:solidFill>
            <a:srgbClr val="111827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9976"/>
            <a:ext cx="4754880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3. MULTI-OBJECTIVE OPTIMIZATION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Objective Concept: Balance Energy Efficiency + Comfort Proxy + Peak Demand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Comfort Target: Enforces strict temperature envelope 22.0°C – 26.0°C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Peak Shaving: Proactive thermal pre-cooling when forecast exceeds 175 kW threshold</a:t>
            </a:r>
          </a:p>
          <a:p>
            <a:pPr>
              <a:spcAft>
                <a:spcPts val="25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• Zone Actions: Setback unoccupied rooms to 25.5°C; harvest daylight for lighting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34440"/>
            <a:ext cx="5379415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5_ml_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102352" cy="305398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760720"/>
            <a:ext cx="10728655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33872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OBJECTIVE FORMULA:  Minimize [ Total Electrical kWh ]  Subject to:  22°C ≤ T_zone ≤ 26°C  AND  Peak Demand ≤ 175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OPERATOR EXPERIENCE &amp; COCKPIT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 Building Manager's Decision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1. Open Dashboard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Glances at live power, simulated cost avoidance, and comfort compliance KPIs.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46304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View Current Energy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Inspects diurnal 24h demand curve and zone-level power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46304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Check Forecast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Evaluates 24-hr ML demand curve to anticipate afternoon peak spikes.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46304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Identify High Zones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Locates over-conditioned zones via spatial 5-zone interactive heatmap.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5. Review AI Actions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Inspects contextual advisories with quantified electrical kWh 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20040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338328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Accept or Dismiss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Operator approves recommendations via one-click human-in-the-loop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20040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38328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7. Compare Scenarios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Explores 4 automation tiers (Baseline vs. Occupancy vs. Full EcoSense).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200400"/>
            <a:ext cx="2542032" cy="1737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3383280"/>
            <a:ext cx="2176272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Measure Impact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Audits comfort compliance % and models economics in Deployment Calculator.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30368"/>
            <a:ext cx="10271455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IMPLEMENTED PROTOTYPE PAGES &amp; CAPABILITIES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• Dashboard (/dashboard): Real-time operations cockpit, active telemetry, comfort compliance gauge, live advisories</a:t>
            </a:r>
            <a:br/>
            <a:r>
              <a:t>• Multi-Zone Map (/zones): 5 commercial zones with thermal load, headcount occupancy, and IAQ metrics</a:t>
            </a:r>
            <a:br/>
            <a:r>
              <a:t>• Scenario Lab (/scenarios): Interactive what-if sandbox testing setpoint offsets, occupancy sensitivity, &amp; solar gain</a:t>
            </a:r>
            <a:br/>
            <a:r>
              <a:t>• Simulation (/simulation): 30-day continuous baseline vs. EcoSense evaluation | Deployment (/deployment): Illustrative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PROTOTYPE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Simulation Results: Baseline vs. EcoSense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SIMULATION RESULT — NOT MEASURED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The prototype simulation evaluates a 27.8% energy reduction versus the defined fixed-schedule baseline across 30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2542032" cy="13716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2212848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ENERGY SAVED</a:t>
            </a:r>
          </a:p>
          <a:p>
            <a:pPr>
              <a:spcAft>
                <a:spcPts val="1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15,816.3 kWh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  <a:latin typeface="Segoe UI"/>
              </a:defRPr>
            </a:pPr>
            <a:r>
              <a:t>27.8% Simulated Reduction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Baseline: 56,961.7 kWh  |  Optimized: 41,145.4 kWh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44752"/>
            <a:ext cx="2542032" cy="13716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572768"/>
            <a:ext cx="2212848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PEAK SHAVED</a:t>
            </a:r>
          </a:p>
          <a:p>
            <a:pPr>
              <a:spcAft>
                <a:spcPts val="100"/>
              </a:spcAft>
              <a:defRPr sz="1900" b="1">
                <a:solidFill>
                  <a:srgbClr val="06B6D4"/>
                </a:solidFill>
                <a:latin typeface="Segoe UI"/>
              </a:defRPr>
            </a:pPr>
            <a:r>
              <a:t>45.3 kW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  <a:latin typeface="Segoe UI"/>
              </a:defRPr>
            </a:pPr>
            <a:r>
              <a:t>23.2% Peak Shaved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Baseline: 195.4 kW  |  Optimized: 150.1 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44752"/>
            <a:ext cx="2542032" cy="13716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572768"/>
            <a:ext cx="2212848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COST SAVING</a:t>
            </a:r>
          </a:p>
          <a:p>
            <a:pPr>
              <a:spcAft>
                <a:spcPts val="100"/>
              </a:spcAft>
              <a:defRPr sz="1900" b="1">
                <a:solidFill>
                  <a:srgbClr val="F59E0B"/>
                </a:solidFill>
                <a:latin typeface="Segoe UI"/>
              </a:defRPr>
            </a:pPr>
            <a:r>
              <a:t>₹134,433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  <a:latin typeface="Segoe UI"/>
              </a:defRPr>
            </a:pPr>
            <a:r>
              <a:t>Simulated Cost Avoidance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Baseline: ₹484,170  |  Optimized: ₹349,738 (@₹8.50/kWh)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44752"/>
            <a:ext cx="2542032" cy="13716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572768"/>
            <a:ext cx="2212848" cy="11155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CO₂ ABATED</a:t>
            </a:r>
          </a:p>
          <a:p>
            <a:pPr>
              <a:spcAft>
                <a:spcPts val="100"/>
              </a:spcAft>
              <a:defRPr sz="1900" b="1">
                <a:solidFill>
                  <a:srgbClr val="A855F7"/>
                </a:solidFill>
                <a:latin typeface="Segoe UI"/>
              </a:defRPr>
            </a:pPr>
            <a:r>
              <a:t>12,969.4 kg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  <a:latin typeface="Segoe UI"/>
              </a:defRPr>
            </a:pPr>
            <a:r>
              <a:t>Simulated Emissions Cut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Grid Factor: 0.82 kg CO₂/kWh (CEA Baseline)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10728655" cy="2788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7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99232"/>
            <a:ext cx="10454335" cy="277399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5833872"/>
            <a:ext cx="10728655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07024"/>
            <a:ext cx="10362895" cy="32004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880" b="1">
                <a:solidFill>
                  <a:srgbClr val="94A3B8"/>
                </a:solidFill>
                <a:latin typeface="Segoe UI"/>
              </a:defRPr>
            </a:pPr>
            <a:r>
              <a:t>COMFORT COMPLIANCE PROXY: 89.6% of occupied hours strictly within 22.0°C–26.0°C temperature target  |  Zero extreme comfort violations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INNOVATION &amp; 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What Makes EcoSense AI Different?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39112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63040"/>
            <a:ext cx="1746504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1. TRI-FACTOR BALANCE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ENERGY + COMFORT + PEAK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Unlike conventional energy tools that optimize kWh in isolation, EcoSense simultaneously balances energy conservation, occupant comfort (22°C–26°C), and coincident peak demand penalties.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280160"/>
            <a:ext cx="2039112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463040"/>
            <a:ext cx="1746504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2. PREDICTIVE + ACTIONABLE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FORECAST-DRIVEN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Moves beyond backward-looking submeter dashboards. Anticipates building cooling load 24 hours ahead using Random Forest and triggers automated pre-cooling before peak tariffs hit.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280160"/>
            <a:ext cx="2039112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1746504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B5CF6"/>
                </a:solidFill>
                <a:latin typeface="Segoe UI"/>
              </a:defRPr>
            </a:pPr>
            <a:r>
              <a:t>3. ZONE-AWARE ADAPTATION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SPATIAL INTELLIGENCE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Applies independent setback and ventilation logic across distinct zone archetypes (Lobby, Meeting Room, Open Office, Cafeteria) based on real-time occupancy rather than whole-building averages.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280160"/>
            <a:ext cx="2039112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463040"/>
            <a:ext cx="1746504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4. SCENARIO AUDITING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DECISION SANDBOX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Empowers managers to compare 4 progressive tiers of building intelligence:</a:t>
            </a:r>
            <a:br/>
            <a:r>
              <a:t>• A: Fixed Baseline</a:t>
            </a:r>
            <a:br/>
            <a:r>
              <a:t>• B: Occupancy Control</a:t>
            </a:r>
            <a:br/>
            <a:r>
              <a:t>• C: Occupancy + Forecast</a:t>
            </a:r>
            <a:br/>
            <a:r>
              <a:t>• D: Full EcoSense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1280160"/>
            <a:ext cx="2039112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463040"/>
            <a:ext cx="1746504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5. SCIENTIFIC HONESTY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AUDITABLE ASSUMPTIONS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No black boxes. Every calculation explicitly documents data provenance (SIMULATED DATA, MODEL PREDICTION), tariff rates (₹8.50/kWh), and grid emission factors (0.82 kg/kWh).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42432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15584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COMPETITIVE EDGE: EcoSense bridges the gap between passive IoT monitoring dashboards and costly full BMS overhauls by providing an intelligent software supervisory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VALUE PROPOSITION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Expected Impact &amp; Path to Real Buildings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EXPECTED IMPACT AREAS</a:t>
            </a:r>
          </a:p>
          <a:p>
            <a:pPr>
              <a:spcAft>
                <a:spcPts val="8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Energy Efficiency: Reduce unnecessary HVAC, lighting, and auxiliary power consumption by 20–28% in commercial spaces through occupancy setbacks.</a:t>
            </a:r>
          </a:p>
          <a:p>
            <a:pPr>
              <a:spcAft>
                <a:spcPts val="8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Peak Demand Management: Clip coincident peak demand by 15–25% via predictive pre-cooling, avoiding expensive utility maximum demand charges.</a:t>
            </a:r>
          </a:p>
          <a:p>
            <a:pPr>
              <a:spcAft>
                <a:spcPts val="8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Occupant Comfort Assurance: Maintain steady thermal proxy adherence (22°C–26°C), avoiding overcooling and eliminating occupant discomfort complaints.</a:t>
            </a:r>
          </a:p>
          <a:p>
            <a:pPr>
              <a:spcAft>
                <a:spcPts val="8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Operational Productivity: Deliver high-confidence, actionable advisories to facility managers rather than overwhelming them with raw, uncurated sensor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280160"/>
            <a:ext cx="5212080" cy="4297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463040"/>
            <a:ext cx="47548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IMPLEMENTATION ROADMAP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Segoe UI"/>
              </a:defRPr>
            </a:pPr>
            <a:r>
              <a:t>• PHASE 1 — CURRENT PROTOTYPE (COMPLETED)</a:t>
            </a:r>
            <a:br/>
            <a:r>
              <a:t>  Validated software simulation engine, Scikit-Learn 24h demand forecasting, multi-objective optimization, and Next.js / FastAPI decision cockpit.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Segoe UI"/>
              </a:defRPr>
            </a:pPr>
            <a:r>
              <a:t>• PHASE 2 — PILOT HARDWARE INTEGRATION</a:t>
            </a:r>
            <a:br/>
            <a:r>
              <a:t>  Deploy wireless IoT sensor overlays (LoRaWAN / Zigbee headcount occupancy, temperature, IAQ) and connect smart main-panel energy sub-meters.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Segoe UI"/>
              </a:defRPr>
            </a:pPr>
            <a:r>
              <a:t>• PHASE 3 — BMS SUPERVISORY INTEGRATION</a:t>
            </a:r>
            <a:br/>
            <a:r>
              <a:t>  Interface via standard BACnet/IP and Modbus protocols to automate thermostat setpoints and lighting relays with human-in-the-loop override.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Segoe UI"/>
              </a:defRPr>
            </a:pPr>
            <a:r>
              <a:t>• PHASE 4 — CONTINUOUS &amp; GRID-INTERACTIVE (GEB)</a:t>
            </a:r>
            <a:br/>
            <a:r>
              <a:t>  Continuous model adaptation from real building telemetry, multi-facility portfolio aggregation, and automated demand response (ADR) grid participation.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42432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10362895" cy="36576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DISTINCTION: Phase 1 (Simulation Prototype) is fully functional and runnable today. Phases 2–4 represent the technical deployment path to real-world commercial buildings.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5720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0F1D"/>
                </a:solidFill>
                <a:latin typeface="Segoe UI"/>
              </a:defRPr>
            </a:pPr>
            <a:r>
              <a:t>YUVA YODHA ENERGY TECH HACKATHON 2026  •  SMART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Building Smarter, Not Just Using Less</a:t>
            </a:r>
          </a:p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EcoSense AI  •  Intelligent Building Energy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10180015" cy="77724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Segoe UI"/>
              </a:defRPr>
            </a:pPr>
            <a:r>
              <a:t>"Turning building data into smarter energy decisions — balancing efficiency, comfort, and peak demand."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212080" cy="2468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4754880" cy="21031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TEAM MEMBERS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[Add team member names]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Roles &amp; Focus:</a:t>
            </a:r>
            <a:br/>
            <a:r>
              <a:t>• Software &amp; Data Engineering  • Machine Learning &amp; Optimization</a:t>
            </a:r>
            <a:br/>
            <a:r>
              <a:t>• Building Systems Modeling  • Full-Stack Cockpit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611880"/>
            <a:ext cx="5212080" cy="2468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695" y="3794760"/>
            <a:ext cx="4754880" cy="21031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PROTOTYPE VERIFICATION &amp; SUMMARY</a:t>
            </a:r>
          </a:p>
          <a:p>
            <a:pPr>
              <a:spcAft>
                <a:spcPts val="35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Current Prototype: Software-based simulation &amp; decision-support platform</a:t>
            </a:r>
          </a:p>
          <a:p>
            <a:pPr>
              <a:spcAft>
                <a:spcPts val="35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Verified Architecture: FastAPI async backend + Next.js interactive cockpit</a:t>
            </a:r>
          </a:p>
          <a:p>
            <a:pPr>
              <a:spcAft>
                <a:spcPts val="35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Scientific Honesty: All simulation figures explicitly labeled with zero fabricated claims</a:t>
            </a:r>
          </a:p>
          <a:p>
            <a:pPr>
              <a:spcAft>
                <a:spcPts val="35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Deterministic PRNG Seed: #42  |  Test Suite: 23/23 tests passed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